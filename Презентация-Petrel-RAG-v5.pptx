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E9C9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691640" y="71323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Astana Hub · тех-задача Petrel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Корпоративный ИИ-Ассистент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2971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 RAG · production-архитектура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FE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Безопасный поиск по внутренним документам на KZ/RU. Гибридный поиск +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FE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реранкер, локальная оценка, мониторинг — строго в контуре компании.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5852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Алишер Нурсаин</a:t>
            </a:r>
            <a:pPr indent="0" marL="0">
              <a:buNone/>
            </a:pPr>
            <a:r>
              <a:rPr lang="en-US" sz="1500" dirty="0">
                <a:solidFill>
                  <a:srgbClr val="BFE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AI/LLM-инженер · Python, FastAPI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805672" y="2587752"/>
            <a:ext cx="1005840" cy="-548640"/>
          </a:xfrm>
          <a:prstGeom prst="line">
            <a:avLst/>
          </a:prstGeom>
          <a:noFill/>
          <a:ln w="19050">
            <a:solidFill>
              <a:srgbClr val="0E9C9C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05672" y="2587752"/>
            <a:ext cx="914400" cy="822960"/>
          </a:xfrm>
          <a:prstGeom prst="line">
            <a:avLst/>
          </a:prstGeom>
          <a:noFill/>
          <a:ln w="19050">
            <a:solidFill>
              <a:srgbClr val="0E9C9C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11512" y="2039112"/>
            <a:ext cx="1005840" cy="822960"/>
          </a:xfrm>
          <a:prstGeom prst="line">
            <a:avLst/>
          </a:prstGeom>
          <a:noFill/>
          <a:ln w="19050">
            <a:solidFill>
              <a:srgbClr val="0E9C9C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20072" y="3410712"/>
            <a:ext cx="1280160" cy="640080"/>
          </a:xfrm>
          <a:prstGeom prst="line">
            <a:avLst/>
          </a:prstGeom>
          <a:noFill/>
          <a:ln w="19050">
            <a:solidFill>
              <a:srgbClr val="0E9C9C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17352" y="2862072"/>
            <a:ext cx="182880" cy="1188720"/>
          </a:xfrm>
          <a:prstGeom prst="line">
            <a:avLst/>
          </a:prstGeom>
          <a:noFill/>
          <a:ln w="19050">
            <a:solidFill>
              <a:srgbClr val="0E9C9C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17352" y="2862072"/>
            <a:ext cx="1097280" cy="640080"/>
          </a:xfrm>
          <a:prstGeom prst="line">
            <a:avLst/>
          </a:prstGeom>
          <a:noFill/>
          <a:ln w="19050">
            <a:solidFill>
              <a:srgbClr val="0E9C9C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00232" y="4050792"/>
            <a:ext cx="914400" cy="-548640"/>
          </a:xfrm>
          <a:prstGeom prst="line">
            <a:avLst/>
          </a:prstGeom>
          <a:noFill/>
          <a:ln w="19050">
            <a:solidFill>
              <a:srgbClr val="0E9C9C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2468880"/>
            <a:ext cx="237744" cy="237744"/>
          </a:xfrm>
          <a:prstGeom prst="ellipse">
            <a:avLst/>
          </a:prstGeom>
          <a:solidFill>
            <a:srgbClr val="0F766E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692640" y="1920240"/>
            <a:ext cx="237744" cy="237744"/>
          </a:xfrm>
          <a:prstGeom prst="ellipse">
            <a:avLst/>
          </a:prstGeom>
          <a:solidFill>
            <a:srgbClr val="0E9C9C">
              <a:alpha val="8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0" y="3291840"/>
            <a:ext cx="237744" cy="237744"/>
          </a:xfrm>
          <a:prstGeom prst="ellipse">
            <a:avLst/>
          </a:prstGeom>
          <a:solidFill>
            <a:srgbClr val="0F766E">
              <a:alpha val="8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698480" y="2743200"/>
            <a:ext cx="237744" cy="237744"/>
          </a:xfrm>
          <a:prstGeom prst="ellipse">
            <a:avLst/>
          </a:prstGeom>
          <a:solidFill>
            <a:srgbClr val="0E9C9C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881360" y="3931920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Shape 19"/>
          <p:cNvSpPr/>
          <p:nvPr/>
        </p:nvSpPr>
        <p:spPr>
          <a:xfrm>
            <a:off x="11795760" y="3383280"/>
            <a:ext cx="237744" cy="237744"/>
          </a:xfrm>
          <a:prstGeom prst="ellipse">
            <a:avLst/>
          </a:prstGeom>
          <a:solidFill>
            <a:srgbClr val="0E9C9C">
              <a:alpha val="8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0972800" cy="1234440"/>
          </a:xfrm>
          <a:prstGeom prst="roundRect">
            <a:avLst>
              <a:gd name="adj" fmla="val 8889"/>
            </a:avLst>
          </a:prstGeom>
          <a:solidFill>
            <a:srgbClr val="E6F4F3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4173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</a:t>
            </a:r>
            <a:pPr indent="0" marL="0">
              <a:buNone/>
            </a:pPr>
            <a:r>
              <a:rPr lang="en-US" sz="1800" i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Сотрудники тратят часы на поиск по регламентам и документации. Публичные ИИ (ChatGPT, Claude) запрещены из-за NDA и требований ИБ.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548640" cy="548640"/>
          </a:xfrm>
          <a:prstGeom prst="ellipse">
            <a:avLst/>
          </a:prstGeom>
          <a:solidFill>
            <a:srgbClr val="0E9C9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9718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Медленный ручной поиск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33649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Информация разбросана по Wiki, PDF и сетевым папкам.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548640" cy="548640"/>
          </a:xfrm>
          <a:prstGeom prst="ellipse">
            <a:avLst/>
          </a:prstGeom>
          <a:solidFill>
            <a:srgbClr val="0E9C9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40690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Облако под запретом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446227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Внешние ИИ нельзя: данные не должны покидать контур (NDA, ИБ).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5212080"/>
            <a:ext cx="548640" cy="548640"/>
          </a:xfrm>
          <a:prstGeom prst="ellipse">
            <a:avLst/>
          </a:prstGeom>
          <a:solidFill>
            <a:srgbClr val="0E9C9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51663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Двуязычие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555955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 и вопросы на казахском и русском.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— локальный RAG-ассистент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 спрашивает обычными словами — система отвечает строго по документам, со ссылками на первоисточники. Всё локально.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423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Локальность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315468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LLM, эмбеддинги, реранкер и вектор-БД — на сервере компании. Нет внешних API.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3400" y="2103120"/>
            <a:ext cx="34290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2423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Цитаты [N]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63440" y="315468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утверждение ссылается на документ, страницу и раздел.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4290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6760" y="2423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Точность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366760" y="315468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Гибридный поиск + реранкер + порог: меньше галлюцинаций, честный отказ.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Интеллектуальный поиск — гибридный конвейер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290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7190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KZ/RU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762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детект языка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554480"/>
            <a:ext cx="34290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63440" y="17190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(bge-m3)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21762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семантика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554480"/>
            <a:ext cx="34290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0" y="17190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sparse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21762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точные термины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3429000" cy="1097280"/>
          </a:xfrm>
          <a:prstGeom prst="roundRect">
            <a:avLst>
              <a:gd name="adj" fmla="val 10000"/>
            </a:avLst>
          </a:prstGeom>
          <a:solidFill>
            <a:srgbClr val="E6F4F3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1363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 fusion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5935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объединение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89120" y="2971800"/>
            <a:ext cx="3429000" cy="1097280"/>
          </a:xfrm>
          <a:prstGeom prst="roundRect">
            <a:avLst>
              <a:gd name="adj" fmla="val 10000"/>
            </a:avLst>
          </a:prstGeom>
          <a:solidFill>
            <a:srgbClr val="E6F4F3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31363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35935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bge-reranker-v2-m3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2971800"/>
            <a:ext cx="34290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0" y="31363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+ PDR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35935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отсев + parent-текст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526280"/>
            <a:ext cx="10927080" cy="1280160"/>
          </a:xfrm>
          <a:prstGeom prst="roundRect">
            <a:avLst>
              <a:gd name="adj" fmla="val 8571"/>
            </a:avLst>
          </a:prstGeom>
          <a:solidFill>
            <a:srgbClr val="E6F4F3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0120" y="484632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0120" y="484632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828800" y="452628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гибрид + реранкер: </a:t>
            </a:r>
            <a:pPr indent="0" marL="0">
              <a:buNone/>
            </a:pPr>
            <a:r>
              <a:rPr lang="en-US" sz="1500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ловит смысл, BM25 — точные формулировки и номера пунктов, реранкер отсеивает нерелевантное. Это и есть «интеллектуальность», а не просто косинус.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— главное требование ТЗ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E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спроектирована для защищённого контура. Данные и телеметрия не покидают сервер.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57800" cy="1554480"/>
          </a:xfrm>
          <a:prstGeom prst="roundRect">
            <a:avLst>
              <a:gd name="adj" fmla="val 7059"/>
            </a:avLst>
          </a:prstGeom>
          <a:solidFill>
            <a:srgbClr val="16282D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3042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Нет внешних API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E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 OpenAI, ни Anthropic. LLM — локальный (vLLM / Ollama). RAGAS убран (он ходит в OpenAI).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103120"/>
            <a:ext cx="5257800" cy="1554480"/>
          </a:xfrm>
          <a:prstGeom prst="roundRect">
            <a:avLst>
              <a:gd name="adj" fmla="val 7059"/>
            </a:avLst>
          </a:prstGeom>
          <a:solidFill>
            <a:srgbClr val="16282D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3042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Аудит телеметрии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788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E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Скрипт проверяет код, зависимости и активные соединения перед сдачей.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5257800" cy="1554480"/>
          </a:xfrm>
          <a:prstGeom prst="roundRect">
            <a:avLst>
              <a:gd name="adj" fmla="val 7059"/>
            </a:avLst>
          </a:prstGeom>
          <a:solidFill>
            <a:srgbClr val="16282D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41330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Air-gap режим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E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HF_HUB_OFFLINE — модели из кэша, ноль обращений в сеть.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5257800" cy="1554480"/>
          </a:xfrm>
          <a:prstGeom prst="roundRect">
            <a:avLst>
              <a:gd name="adj" fmla="val 7059"/>
            </a:avLst>
          </a:prstGeom>
          <a:solidFill>
            <a:srgbClr val="16282D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41330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Basic Auth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E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/chat, /ingest, /documents под аутентификацией (timing-safe).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E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Проверено: audit_telemetry.sh → «внешних соединений нет, только localhost»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качества — локально, без OpenAI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Eval-харнесс прогоняет тестовый набор RU/KZ. Метрика «обоснованность» (groundedness) проверяется тем же ЛОКАЛЬНЫМ LLM — в отличие от RAGAS, который по умолчанию ходит в OpenAI.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429000" cy="1508760"/>
          </a:xfrm>
          <a:prstGeom prst="roundRect">
            <a:avLst>
              <a:gd name="adj" fmla="val 7273"/>
            </a:avLst>
          </a:prstGeom>
          <a:solidFill>
            <a:srgbClr val="E6F4F3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423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60120" y="3081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33924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следует из контекста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2240280"/>
            <a:ext cx="3429000" cy="1508760"/>
          </a:xfrm>
          <a:prstGeom prst="roundRect">
            <a:avLst>
              <a:gd name="adj" fmla="val 7273"/>
            </a:avLst>
          </a:prstGeom>
          <a:solidFill>
            <a:srgbClr val="E6F4F3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2423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63440" y="3081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language_purity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33924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смешения языков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2240280"/>
            <a:ext cx="3429000" cy="1508760"/>
          </a:xfrm>
          <a:prstGeom prst="roundRect">
            <a:avLst>
              <a:gd name="adj" fmla="val 7273"/>
            </a:avLst>
          </a:prstGeom>
          <a:solidFill>
            <a:srgbClr val="E6F4F3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2423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366760" y="3081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no_answer_acc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33924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честный отказ корректен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3429000" cy="1508760"/>
          </a:xfrm>
          <a:prstGeom prst="roundRect">
            <a:avLst>
              <a:gd name="adj" fmla="val 7273"/>
            </a:avLst>
          </a:prstGeom>
          <a:solidFill>
            <a:srgbClr val="E6F4F3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тестов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60120" y="48646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51755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зелёные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4023360"/>
            <a:ext cx="3429000" cy="1508760"/>
          </a:xfrm>
          <a:prstGeom prst="roundRect">
            <a:avLst>
              <a:gd name="adj" fmla="val 7273"/>
            </a:avLst>
          </a:prstGeom>
          <a:solidFill>
            <a:srgbClr val="E6F4F3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~0.4с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663440" y="48646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TTFT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51755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первого токена (тёплый)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4023360"/>
            <a:ext cx="3429000" cy="1508760"/>
          </a:xfrm>
          <a:prstGeom prst="roundRect">
            <a:avLst>
              <a:gd name="adj" fmla="val 7273"/>
            </a:avLst>
          </a:prstGeom>
          <a:solidFill>
            <a:srgbClr val="E6F4F3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66760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366760" y="48646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калибровка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66760" y="51755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reranker на данных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и стек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72237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4630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(Gradio) + Auth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114800" y="14630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 · загрузка документов · цитаты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31920" y="22128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72237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423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· FastAPI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114800" y="2423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/query · /ingest · /evaluation · /metrics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31729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7223760" cy="777240"/>
          </a:xfrm>
          <a:prstGeom prst="roundRect">
            <a:avLst>
              <a:gd name="adj" fmla="val 14118"/>
            </a:avLst>
          </a:prstGeom>
          <a:solidFill>
            <a:srgbClr val="E6F4F3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383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Retrieval: hybrid + reranker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114800" y="33832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bge-m3 + BM25 + RRF + bge-reranker + PDR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41330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72237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343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 + LLM (vLLM/Ollama)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114800" y="4343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vectors · Qwen2.5-7B (локально)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стек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21040" y="1920240"/>
            <a:ext cx="3200400" cy="475488"/>
          </a:xfrm>
          <a:prstGeom prst="roundRect">
            <a:avLst>
              <a:gd name="adj" fmla="val 23077"/>
            </a:avLst>
          </a:prstGeom>
          <a:solidFill>
            <a:srgbClr val="E6F4F3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21040" y="19202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Qwen2.5-7B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321040" y="2523744"/>
            <a:ext cx="3200400" cy="475488"/>
          </a:xfrm>
          <a:prstGeom prst="roundRect">
            <a:avLst>
              <a:gd name="adj" fmla="val 23077"/>
            </a:avLst>
          </a:prstGeom>
          <a:solidFill>
            <a:srgbClr val="E6F4F3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21040" y="252374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bge-m3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21040" y="3127248"/>
            <a:ext cx="3200400" cy="475488"/>
          </a:xfrm>
          <a:prstGeom prst="roundRect">
            <a:avLst>
              <a:gd name="adj" fmla="val 23077"/>
            </a:avLst>
          </a:prstGeom>
          <a:solidFill>
            <a:srgbClr val="E6F4F3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321040" y="312724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bge-reranker-v2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321040" y="3730752"/>
            <a:ext cx="3200400" cy="475488"/>
          </a:xfrm>
          <a:prstGeom prst="roundRect">
            <a:avLst>
              <a:gd name="adj" fmla="val 23077"/>
            </a:avLst>
          </a:prstGeom>
          <a:solidFill>
            <a:srgbClr val="E6F4F3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21040" y="37307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321040" y="4334256"/>
            <a:ext cx="3200400" cy="475488"/>
          </a:xfrm>
          <a:prstGeom prst="roundRect">
            <a:avLst>
              <a:gd name="adj" fmla="val 23077"/>
            </a:avLst>
          </a:prstGeom>
          <a:solidFill>
            <a:srgbClr val="E6F4F3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321040" y="433425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321040" y="4937760"/>
            <a:ext cx="3200400" cy="475488"/>
          </a:xfrm>
          <a:prstGeom prst="roundRect">
            <a:avLst>
              <a:gd name="adj" fmla="val 23077"/>
            </a:avLst>
          </a:prstGeom>
          <a:solidFill>
            <a:srgbClr val="E6F4F3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321040" y="49377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Production-готовность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Мониторинг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06654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Prometheus-метрики (запросы, latency, no-answer) + дашборды Grafana.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Аутентификация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37960" y="206654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Auth на write/read эндпоинты, timing-safe сравнение.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154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🐳 Docker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57530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docker-compose: vLLM + Qdrant + TEI + backend + UI. Один контур.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2971800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3154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 Дедупликация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357530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chunk_hash — повторная загрузка файла не плодит дубли.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480560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4663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Калибровка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508406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Скрипт подбора порога reranker на тестовом наборе.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4480560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4663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Snapshots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508406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Снимки индекса Qdrant после индексации.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Прототип — проверен в работе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1264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17320"/>
            <a:ext cx="6126480" cy="502920"/>
          </a:xfrm>
          <a:prstGeom prst="roundRect">
            <a:avLst>
              <a:gd name="adj" fmla="val 21818"/>
            </a:avLst>
          </a:prstGeom>
          <a:solidFill>
            <a:srgbClr val="0E1F2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581912"/>
            <a:ext cx="164592" cy="164592"/>
          </a:xfrm>
          <a:prstGeom prst="ellipse">
            <a:avLst/>
          </a:prstGeom>
          <a:solidFill>
            <a:srgbClr val="F7637C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1581912"/>
            <a:ext cx="164592" cy="164592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7" name="Shape 5"/>
          <p:cNvSpPr/>
          <p:nvPr/>
        </p:nvSpPr>
        <p:spPr>
          <a:xfrm>
            <a:off x="1426464" y="1581912"/>
            <a:ext cx="164592" cy="164592"/>
          </a:xfrm>
          <a:prstGeom prst="ellipse">
            <a:avLst/>
          </a:prstGeom>
          <a:solidFill>
            <a:srgbClr val="4FB477"/>
          </a:solidFill>
          <a:ln/>
        </p:spPr>
      </p:sp>
      <p:sp>
        <p:nvSpPr>
          <p:cNvPr id="8" name="Text 6"/>
          <p:cNvSpPr/>
          <p:nvPr/>
        </p:nvSpPr>
        <p:spPr>
          <a:xfrm>
            <a:off x="1783080" y="14173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на Ollama · без GPU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2402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F4F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45920" y="22219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сколько дней подавать отпуск?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645920" y="256946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«за 14 календарных дней» [1, 2]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33375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F4F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45920" y="33192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стоит парковка?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645920" y="366674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честный отказ «нет информации»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44348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F4F3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45920" y="4416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автотестов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45920" y="476402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зелёные · пайплайн прогнан end-to-end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86600" y="1417320"/>
            <a:ext cx="4480560" cy="1097280"/>
          </a:xfrm>
          <a:prstGeom prst="roundRect">
            <a:avLst>
              <a:gd name="adj" fmla="val 10000"/>
            </a:avLst>
          </a:prstGeom>
          <a:solidFill>
            <a:srgbClr val="E6F4F3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60920" y="14173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052560" y="14173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запускается на ноутбуке (M4), без GPU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086600" y="2697480"/>
            <a:ext cx="4480560" cy="1097280"/>
          </a:xfrm>
          <a:prstGeom prst="roundRect">
            <a:avLst>
              <a:gd name="adj" fmla="val 10000"/>
            </a:avLst>
          </a:prstGeom>
          <a:solidFill>
            <a:srgbClr val="E6F4F3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6092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bge-m3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052560" y="2697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reranker — реальный гибрид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086600" y="3977640"/>
            <a:ext cx="4480560" cy="1097280"/>
          </a:xfrm>
          <a:prstGeom prst="roundRect">
            <a:avLst>
              <a:gd name="adj" fmla="val 10000"/>
            </a:avLst>
          </a:prstGeom>
          <a:solidFill>
            <a:srgbClr val="E6F4F3"/>
          </a:solidFill>
          <a:ln/>
          <a:effectLst>
            <a:outerShdw sx="100000" sy="100000" kx="0" ky="0" algn="bl" rotWithShape="0" blurRad="127000" dist="38100" dir="5400000">
              <a:srgbClr val="16282D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60920" y="3977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утечек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052560" y="3977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аудит: только localhost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086600" y="5394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Код: </a:t>
            </a:r>
            <a:pPr indent="0" marL="0">
              <a:buNone/>
            </a:pPr>
            <a:r>
              <a:rPr lang="en-US" sz="1200" dirty="0">
                <a:solidFill>
                  <a:srgbClr val="0E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github.com/wpalish/petrel-rag-v5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4599432"/>
            <a:ext cx="1005840" cy="-548640"/>
          </a:xfrm>
          <a:prstGeom prst="line">
            <a:avLst/>
          </a:prstGeom>
          <a:noFill/>
          <a:ln w="19050">
            <a:solidFill>
              <a:srgbClr val="0E9C9C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97112" y="4599432"/>
            <a:ext cx="914400" cy="822960"/>
          </a:xfrm>
          <a:prstGeom prst="line">
            <a:avLst/>
          </a:prstGeom>
          <a:noFill/>
          <a:ln w="19050">
            <a:solidFill>
              <a:srgbClr val="0E9C9C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02952" y="4050792"/>
            <a:ext cx="1005840" cy="822960"/>
          </a:xfrm>
          <a:prstGeom prst="line">
            <a:avLst/>
          </a:prstGeom>
          <a:noFill/>
          <a:ln w="19050">
            <a:solidFill>
              <a:srgbClr val="0E9C9C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11512" y="5422392"/>
            <a:ext cx="1280160" cy="640080"/>
          </a:xfrm>
          <a:prstGeom prst="line">
            <a:avLst/>
          </a:prstGeom>
          <a:noFill/>
          <a:ln w="19050">
            <a:solidFill>
              <a:srgbClr val="0E9C9C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8792" y="4873752"/>
            <a:ext cx="182880" cy="1188720"/>
          </a:xfrm>
          <a:prstGeom prst="line">
            <a:avLst/>
          </a:prstGeom>
          <a:noFill/>
          <a:ln w="19050">
            <a:solidFill>
              <a:srgbClr val="0E9C9C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08792" y="4873752"/>
            <a:ext cx="1097280" cy="640080"/>
          </a:xfrm>
          <a:prstGeom prst="line">
            <a:avLst/>
          </a:prstGeom>
          <a:noFill/>
          <a:ln w="19050">
            <a:solidFill>
              <a:srgbClr val="0E9C9C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6062472"/>
            <a:ext cx="914400" cy="-548640"/>
          </a:xfrm>
          <a:prstGeom prst="line">
            <a:avLst/>
          </a:prstGeom>
          <a:noFill/>
          <a:ln w="19050">
            <a:solidFill>
              <a:srgbClr val="0E9C9C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4480560"/>
            <a:ext cx="237744" cy="237744"/>
          </a:xfrm>
          <a:prstGeom prst="ellipse">
            <a:avLst/>
          </a:prstGeom>
          <a:solidFill>
            <a:srgbClr val="0F766E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0" y="3931920"/>
            <a:ext cx="237744" cy="237744"/>
          </a:xfrm>
          <a:prstGeom prst="ellipse">
            <a:avLst/>
          </a:prstGeom>
          <a:solidFill>
            <a:srgbClr val="0E9C9C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692640" y="5303520"/>
            <a:ext cx="237744" cy="237744"/>
          </a:xfrm>
          <a:prstGeom prst="ellipse">
            <a:avLst/>
          </a:prstGeom>
          <a:solidFill>
            <a:srgbClr val="0F766E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89920" y="4754880"/>
            <a:ext cx="237744" cy="237744"/>
          </a:xfrm>
          <a:prstGeom prst="ellipse">
            <a:avLst/>
          </a:prstGeom>
          <a:solidFill>
            <a:srgbClr val="0E9C9C">
              <a:alpha val="8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0" y="5943600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0" y="5394960"/>
            <a:ext cx="237744" cy="237744"/>
          </a:xfrm>
          <a:prstGeom prst="ellipse">
            <a:avLst/>
          </a:prstGeom>
          <a:solidFill>
            <a:srgbClr val="0E9C9C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73152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E9C9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731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 показать прототип на созвоне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58368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Алишер Нурсаин</a:t>
            </a:r>
            <a:pPr indent="0" marL="0">
              <a:buNone/>
            </a:pPr>
            <a:r>
              <a:rPr lang="en-US" sz="1800" dirty="0">
                <a:solidFill>
                  <a:srgbClr val="BFE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AI/LLM-инженер · Python, FastAPI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FE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Витрина проекта:  wpalish.github.io/petrel-rag-v5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8368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FE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на GitHub:  github.com/wpalish/petrel-rag-v5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58368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FE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 на созвоне:  локальный запуск (Ollama / Docker), on-premise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58368" y="5440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FE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alisher.nursain@gmail.com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On-Premise RAG v5 — Petrel AI</dc:title>
  <dc:subject>PptxGenJS Presentation</dc:subject>
  <dc:creator>Алишер Нурсаин</dc:creator>
  <cp:lastModifiedBy>Алишер Нурсаин</cp:lastModifiedBy>
  <cp:revision>1</cp:revision>
  <dcterms:created xsi:type="dcterms:W3CDTF">2026-06-28T04:05:30Z</dcterms:created>
  <dcterms:modified xsi:type="dcterms:W3CDTF">2026-06-28T04:05:30Z</dcterms:modified>
</cp:coreProperties>
</file>